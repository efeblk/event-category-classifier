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aa97f8a2-c4dd-52f4-f6b9-a97fc9481c92}">
          <p14:sldIdLst>
            <p14:sldId id="256"/>
            <p14:sldId id="257"/>
          </p14:sldIdLst>
        </p14:section>
        <p14:section name="Methods" id="{61839ab6-6e50-0c8a-6f74-f7a09b3988cb}">
          <p14:sldIdLst>
            <p14:sldId id="258"/>
          </p14:sldIdLst>
        </p14:section>
        <p14:section name="Results" id="{a1532e64-5d1e-7871-6bb5-365ca7f26b16}">
          <p14:sldIdLst>
            <p14:sldId id="259"/>
            <p14:sldId id="260"/>
          </p14:sldIdLst>
        </p14:section>
        <p14:section name="Conclusion" id="{78578de2-3786-87c4-6a84-6e61bf43589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1B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1B2E"/>
                </a:solidFill>
                <a:latin typeface="+mn-lt"/>
              </a:rPr>
              <a:t>Test macro F1 (majority baseline: 0.08)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Word features</c:v>
                </c:pt>
              </c:strCache>
            </c:strRef>
          </c:tx>
          <c:spPr>
            <a:solidFill>
              <a:srgbClr val="8A869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Regression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0.62</c:v>
                </c:pt>
                <c:pt idx="1">
                  <c:v>0.68</c:v>
                </c:pt>
                <c:pt idx="2">
                  <c:v>0.68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Character features</c:v>
                </c:pt>
              </c:strCache>
            </c:strRef>
          </c:tx>
          <c:spPr>
            <a:solidFill>
              <a:srgbClr val="6C4A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Logistic Regression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0.82</c:v>
                </c:pt>
                <c:pt idx="2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45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DF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4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45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20 seconds. Bi' Plan, my event app, must know which kind of event a user wants. This project isolates that one step as a text classification problem, in Turkish and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Four labels. Unclear covers vague requests, two categories at once, other activities, and requests that only exclude something. I wrote 364 examples in 52 families. Group-aware splitting prevents leakage between train, validation, and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seconds. Rules, a classical model from class, and a pretrained model. Training compared Naive Bayes, Logistic Regression, and a linear SVM, each with word and character features, plus a majority baseline. Validation macro F1 picked the model, not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seconds. Character features beat word features for all three methods. Logistic Regression with characters wins: 0.82 macro F1 and 83 percent accuracy on 77 unseen test requests. Cross-validation gives the same ranking, with about 0.08 spread between folds because the data set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35 seconds, then the live demo. Seven of the thirteen test errors are exclusions like this one. The Parser handles negation but misses paraphrases without a keyword. The model is the opposite. Demo: type this sentence with Include Jev on, and show all three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25 seconds. On a separate set of 40 requests, rules reach 57.5 percent and the trained model 62.5 percent. These are synthetic, inspected cases, so they are not real-user accuracy. Next steps: more data and a blind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ert circle"/>
          <p:cNvSpPr/>
          <p:nvPr/>
        </p:nvSpPr>
        <p:spPr>
          <a:xfrm>
            <a:off x="548640" y="1005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conce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191006"/>
            <a:ext cx="315468" cy="315468"/>
          </a:xfrm>
          <a:prstGeom prst="rect">
            <a:avLst/>
          </a:prstGeom>
        </p:spPr>
      </p:pic>
      <p:sp>
        <p:nvSpPr>
          <p:cNvPr id="4" name="theatre circle"/>
          <p:cNvSpPr/>
          <p:nvPr/>
        </p:nvSpPr>
        <p:spPr>
          <a:xfrm>
            <a:off x="1417320" y="10058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heat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86" y="1191006"/>
            <a:ext cx="315468" cy="315468"/>
          </a:xfrm>
          <a:prstGeom prst="rect">
            <a:avLst/>
          </a:prstGeom>
        </p:spPr>
      </p:pic>
      <p:sp>
        <p:nvSpPr>
          <p:cNvPr id="6" name="stand-up circle"/>
          <p:cNvSpPr/>
          <p:nvPr/>
        </p:nvSpPr>
        <p:spPr>
          <a:xfrm>
            <a:off x="2286000" y="10058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stand-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166" y="1191006"/>
            <a:ext cx="315468" cy="315468"/>
          </a:xfrm>
          <a:prstGeom prst="rect">
            <a:avLst/>
          </a:prstGeom>
        </p:spPr>
      </p:pic>
      <p:sp>
        <p:nvSpPr>
          <p:cNvPr id="8" name="Text 0"/>
          <p:cNvSpPr/>
          <p:nvPr>
            <p:ph idx="100" type="title" hasCustomPrompt="1"/>
          </p:nvPr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Concert, theatre, or stand-up?</a:t>
            </a:r>
            <a:endParaRPr lang="en-US" sz="40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Classifying Turkish and English event requests with rules, a trained model, and Jev</a:t>
            </a:r>
            <a:endParaRPr lang="en-US" sz="1800" dirty="0"/>
          </a:p>
        </p:txBody>
      </p:sp>
      <p:sp>
        <p:nvSpPr>
          <p:cNvPr id="10" name="byline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COE025 Natural Language Processing  ·  Project 1  ·  [Your name]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task: one label per request</a:t>
            </a:r>
            <a:endParaRPr lang="en-US" sz="3000" dirty="0"/>
          </a:p>
        </p:txBody>
      </p:sp>
      <p:sp>
        <p:nvSpPr>
          <p:cNvPr id="3" name="concert card"/>
          <p:cNvSpPr/>
          <p:nvPr/>
        </p:nvSpPr>
        <p:spPr>
          <a:xfrm>
            <a:off x="45720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4" name="concert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ncer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519733"/>
            <a:ext cx="252374" cy="252374"/>
          </a:xfrm>
          <a:prstGeom prst="rect">
            <a:avLst/>
          </a:prstGeom>
        </p:spPr>
      </p:pic>
      <p:sp>
        <p:nvSpPr>
          <p:cNvPr id="6" name="concert label"/>
          <p:cNvSpPr txBox="1"/>
          <p:nvPr/>
        </p:nvSpPr>
        <p:spPr>
          <a:xfrm>
            <a:off x="6400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concert</a:t>
            </a:r>
            <a:endParaRPr lang="en-US" sz="1800" dirty="0"/>
          </a:p>
        </p:txBody>
      </p:sp>
      <p:sp>
        <p:nvSpPr>
          <p:cNvPr id="7" name="concert example"/>
          <p:cNvSpPr txBox="1"/>
          <p:nvPr/>
        </p:nvSpPr>
        <p:spPr>
          <a:xfrm>
            <a:off x="64008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“Bu akşam bir konsere gidelim”</a:t>
            </a:r>
            <a:endParaRPr lang="en-US" sz="1200" dirty="0"/>
          </a:p>
        </p:txBody>
      </p:sp>
      <p:sp>
        <p:nvSpPr>
          <p:cNvPr id="8" name="theatre card"/>
          <p:cNvSpPr/>
          <p:nvPr/>
        </p:nvSpPr>
        <p:spPr>
          <a:xfrm>
            <a:off x="256032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9" name="theatre circle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theatr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333" y="1519733"/>
            <a:ext cx="252374" cy="252374"/>
          </a:xfrm>
          <a:prstGeom prst="rect">
            <a:avLst/>
          </a:prstGeom>
        </p:spPr>
      </p:pic>
      <p:sp>
        <p:nvSpPr>
          <p:cNvPr id="11" name="theatre label"/>
          <p:cNvSpPr txBox="1"/>
          <p:nvPr/>
        </p:nvSpPr>
        <p:spPr>
          <a:xfrm>
            <a:off x="27432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theatre</a:t>
            </a:r>
            <a:endParaRPr lang="en-US" sz="1800" dirty="0"/>
          </a:p>
        </p:txBody>
      </p:sp>
      <p:sp>
        <p:nvSpPr>
          <p:cNvPr id="12" name="theatre example"/>
          <p:cNvSpPr txBox="1"/>
          <p:nvPr/>
        </p:nvSpPr>
        <p:spPr>
          <a:xfrm>
            <a:off x="274320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“Suggest a play being staged tonight”</a:t>
            </a:r>
            <a:endParaRPr lang="en-US" sz="1200" dirty="0"/>
          </a:p>
        </p:txBody>
      </p:sp>
      <p:sp>
        <p:nvSpPr>
          <p:cNvPr id="13" name="stand_up card"/>
          <p:cNvSpPr/>
          <p:nvPr/>
        </p:nvSpPr>
        <p:spPr>
          <a:xfrm>
            <a:off x="466344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4" name="stand_up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stand_u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519733"/>
            <a:ext cx="252374" cy="252374"/>
          </a:xfrm>
          <a:prstGeom prst="rect">
            <a:avLst/>
          </a:prstGeom>
        </p:spPr>
      </p:pic>
      <p:sp>
        <p:nvSpPr>
          <p:cNvPr id="16" name="stand_up label"/>
          <p:cNvSpPr txBox="1"/>
          <p:nvPr/>
        </p:nvSpPr>
        <p:spPr>
          <a:xfrm>
            <a:off x="4846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stand_up</a:t>
            </a:r>
            <a:endParaRPr lang="en-US" sz="1800" dirty="0"/>
          </a:p>
        </p:txBody>
      </p:sp>
      <p:sp>
        <p:nvSpPr>
          <p:cNvPr id="17" name="stand_up example"/>
          <p:cNvSpPr txBox="1"/>
          <p:nvPr/>
        </p:nvSpPr>
        <p:spPr>
          <a:xfrm>
            <a:off x="484632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“Sahnede komedyen izlemek istiyorum”</a:t>
            </a:r>
            <a:endParaRPr lang="en-US" sz="1200" dirty="0"/>
          </a:p>
        </p:txBody>
      </p:sp>
      <p:sp>
        <p:nvSpPr>
          <p:cNvPr id="18" name="unclear card"/>
          <p:cNvSpPr/>
          <p:nvPr/>
        </p:nvSpPr>
        <p:spPr>
          <a:xfrm>
            <a:off x="6766560" y="1188720"/>
            <a:ext cx="1874520" cy="19202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9" name="unclear circle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unclea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573" y="1519733"/>
            <a:ext cx="252374" cy="252374"/>
          </a:xfrm>
          <a:prstGeom prst="rect">
            <a:avLst/>
          </a:prstGeom>
        </p:spPr>
      </p:pic>
      <p:sp>
        <p:nvSpPr>
          <p:cNvPr id="21" name="unclear label"/>
          <p:cNvSpPr txBox="1"/>
          <p:nvPr/>
        </p:nvSpPr>
        <p:spPr>
          <a:xfrm>
            <a:off x="69494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unclear</a:t>
            </a:r>
            <a:endParaRPr lang="en-US" sz="1800" dirty="0"/>
          </a:p>
        </p:txBody>
      </p:sp>
      <p:sp>
        <p:nvSpPr>
          <p:cNvPr id="22" name="unclear example"/>
          <p:cNvSpPr txBox="1"/>
          <p:nvPr/>
        </p:nvSpPr>
        <p:spPr>
          <a:xfrm>
            <a:off x="6949440" y="2377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“I do not want a concert”</a:t>
            </a:r>
            <a:endParaRPr lang="en-US" sz="1200" dirty="0"/>
          </a:p>
        </p:txBody>
      </p:sp>
      <p:sp>
        <p:nvSpPr>
          <p:cNvPr id="23" name="stat synthetic requests"/>
          <p:cNvSpPr txBox="1"/>
          <p:nvPr/>
        </p:nvSpPr>
        <p:spPr>
          <a:xfrm>
            <a:off x="45720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364</a:t>
            </a:r>
            <a:endParaRPr lang="en-US" sz="3200" dirty="0"/>
          </a:p>
        </p:txBody>
      </p:sp>
      <p:sp>
        <p:nvSpPr>
          <p:cNvPr id="24" name="stat label synthetic requests"/>
          <p:cNvSpPr txBox="1"/>
          <p:nvPr/>
        </p:nvSpPr>
        <p:spPr>
          <a:xfrm>
            <a:off x="45720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synthetic requests</a:t>
            </a:r>
            <a:endParaRPr lang="en-US" sz="1400" dirty="0"/>
          </a:p>
        </p:txBody>
      </p:sp>
      <p:sp>
        <p:nvSpPr>
          <p:cNvPr id="25" name="stat paraphrase families"/>
          <p:cNvSpPr txBox="1"/>
          <p:nvPr/>
        </p:nvSpPr>
        <p:spPr>
          <a:xfrm>
            <a:off x="329184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200" dirty="0"/>
          </a:p>
        </p:txBody>
      </p:sp>
      <p:sp>
        <p:nvSpPr>
          <p:cNvPr id="26" name="stat label paraphrase families"/>
          <p:cNvSpPr txBox="1"/>
          <p:nvPr/>
        </p:nvSpPr>
        <p:spPr>
          <a:xfrm>
            <a:off x="329184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paraphrase families</a:t>
            </a:r>
            <a:endParaRPr lang="en-US" sz="1400" dirty="0"/>
          </a:p>
        </p:txBody>
      </p:sp>
      <p:sp>
        <p:nvSpPr>
          <p:cNvPr id="27" name="stat Turkish / English"/>
          <p:cNvSpPr txBox="1"/>
          <p:nvPr/>
        </p:nvSpPr>
        <p:spPr>
          <a:xfrm>
            <a:off x="6126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 / 156</a:t>
            </a:r>
            <a:endParaRPr lang="en-US" sz="3200" dirty="0"/>
          </a:p>
        </p:txBody>
      </p:sp>
      <p:sp>
        <p:nvSpPr>
          <p:cNvPr id="28" name="stat label Turkish / English"/>
          <p:cNvSpPr txBox="1"/>
          <p:nvPr/>
        </p:nvSpPr>
        <p:spPr>
          <a:xfrm>
            <a:off x="6126480" y="3931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Turkish / English</a:t>
            </a:r>
            <a:endParaRPr lang="en-US" sz="1400" dirty="0"/>
          </a:p>
        </p:txBody>
      </p:sp>
      <p:sp>
        <p:nvSpPr>
          <p:cNvPr id="29" name="split note"/>
          <p:cNvSpPr txBox="1"/>
          <p:nvPr/>
        </p:nvSpPr>
        <p:spPr>
          <a:xfrm>
            <a:off x="45720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 family and its translations stay in one split, so the test set never contains a paraphrase of a training example.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ways to read the same request</a:t>
            </a:r>
            <a:endParaRPr lang="en-US" sz="3000" dirty="0"/>
          </a:p>
        </p:txBody>
      </p:sp>
      <p:sp>
        <p:nvSpPr>
          <p:cNvPr id="3" name="Parser card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Parser circle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ars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544422"/>
            <a:ext cx="294437" cy="294437"/>
          </a:xfrm>
          <a:prstGeom prst="rect">
            <a:avLst/>
          </a:prstGeom>
        </p:spPr>
      </p:pic>
      <p:sp>
        <p:nvSpPr>
          <p:cNvPr id="6" name="Parser name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Parser</a:t>
            </a:r>
            <a:endParaRPr lang="en-US" sz="1800" dirty="0"/>
          </a:p>
        </p:txBody>
      </p:sp>
      <p:sp>
        <p:nvSpPr>
          <p:cNvPr id="7" name="Parser kind"/>
          <p:cNvSpPr txBox="1"/>
          <p:nvPr/>
        </p:nvSpPr>
        <p:spPr>
          <a:xfrm>
            <a:off x="6858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Written rules</a:t>
            </a:r>
            <a:endParaRPr lang="en-US" sz="1400" dirty="0"/>
          </a:p>
        </p:txBody>
      </p:sp>
      <p:sp>
        <p:nvSpPr>
          <p:cNvPr id="8" name="Parser body"/>
          <p:cNvSpPr txBox="1"/>
          <p:nvPr/>
        </p:nvSpPr>
        <p:spPr>
          <a:xfrm>
            <a:off x="68580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Keyword patterns plus negation rules: “not”, “istemiyorum”, “olmasın”.</a:t>
            </a:r>
            <a:endParaRPr lang="en-US" sz="1400" dirty="0"/>
          </a:p>
        </p:txBody>
      </p:sp>
      <p:sp>
        <p:nvSpPr>
          <p:cNvPr id="9" name="Parser needs"/>
          <p:cNvSpPr txBox="1"/>
          <p:nvPr/>
        </p:nvSpPr>
        <p:spPr>
          <a:xfrm>
            <a:off x="68580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Needs: my time</a:t>
            </a:r>
            <a:endParaRPr lang="en-US" sz="1200" dirty="0"/>
          </a:p>
        </p:txBody>
      </p:sp>
      <p:sp>
        <p:nvSpPr>
          <p:cNvPr id="10" name="Logistic Regression card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1" name="Logistic Regression circle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Logistic Regress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544422"/>
            <a:ext cx="294437" cy="294437"/>
          </a:xfrm>
          <a:prstGeom prst="rect">
            <a:avLst/>
          </a:prstGeom>
        </p:spPr>
      </p:pic>
      <p:sp>
        <p:nvSpPr>
          <p:cNvPr id="13" name="Logistic Regression name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Logistic Regression</a:t>
            </a:r>
            <a:endParaRPr lang="en-US" sz="1800" dirty="0"/>
          </a:p>
        </p:txBody>
      </p:sp>
      <p:sp>
        <p:nvSpPr>
          <p:cNvPr id="14" name="Logistic Regression kind"/>
          <p:cNvSpPr txBox="1"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Learned from data</a:t>
            </a:r>
            <a:endParaRPr lang="en-US" sz="1400" dirty="0"/>
          </a:p>
        </p:txBody>
      </p:sp>
      <p:sp>
        <p:nvSpPr>
          <p:cNvPr id="15" name="Logistic Regression body"/>
          <p:cNvSpPr txBox="1"/>
          <p:nvPr/>
        </p:nvSpPr>
        <p:spPr>
          <a:xfrm>
            <a:off x="347472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TF-IDF on 3–5 character groups. Chosen over Naive Bayes and SVM on validation.</a:t>
            </a:r>
            <a:endParaRPr lang="en-US" sz="1400" dirty="0"/>
          </a:p>
        </p:txBody>
      </p:sp>
      <p:sp>
        <p:nvSpPr>
          <p:cNvPr id="16" name="Logistic Regression needs"/>
          <p:cNvSpPr txBox="1"/>
          <p:nvPr/>
        </p:nvSpPr>
        <p:spPr>
          <a:xfrm>
            <a:off x="34747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Needs: labeled examples</a:t>
            </a:r>
            <a:endParaRPr lang="en-US" sz="1200" dirty="0"/>
          </a:p>
        </p:txBody>
      </p:sp>
      <p:sp>
        <p:nvSpPr>
          <p:cNvPr id="17" name="Jev card"/>
          <p:cNvSpPr/>
          <p:nvPr/>
        </p:nvSpPr>
        <p:spPr>
          <a:xfrm>
            <a:off x="603504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8" name="Jev circle"/>
          <p:cNvSpPr/>
          <p:nvPr/>
        </p:nvSpPr>
        <p:spPr>
          <a:xfrm>
            <a:off x="626364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Jev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62" y="1544422"/>
            <a:ext cx="294437" cy="294437"/>
          </a:xfrm>
          <a:prstGeom prst="rect">
            <a:avLst/>
          </a:prstGeom>
        </p:spPr>
      </p:pic>
      <p:sp>
        <p:nvSpPr>
          <p:cNvPr id="20" name="Jev name"/>
          <p:cNvSpPr txBox="1"/>
          <p:nvPr/>
        </p:nvSpPr>
        <p:spPr>
          <a:xfrm>
            <a:off x="62636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Jev</a:t>
            </a:r>
            <a:endParaRPr lang="en-US" sz="1800" dirty="0"/>
          </a:p>
        </p:txBody>
      </p:sp>
      <p:sp>
        <p:nvSpPr>
          <p:cNvPr id="21" name="Jev kind"/>
          <p:cNvSpPr txBox="1"/>
          <p:nvPr/>
        </p:nvSpPr>
        <p:spPr>
          <a:xfrm>
            <a:off x="62636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Pretrained model</a:t>
            </a:r>
            <a:endParaRPr lang="en-US" sz="1400" dirty="0"/>
          </a:p>
        </p:txBody>
      </p:sp>
      <p:sp>
        <p:nvSpPr>
          <p:cNvPr id="22" name="Jev body"/>
          <p:cNvSpPr txBox="1"/>
          <p:nvPr/>
        </p:nvSpPr>
        <p:spPr>
          <a:xfrm>
            <a:off x="626364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a multiple-choice question with probabilities through the TypeSafe API.</a:t>
            </a:r>
            <a:endParaRPr lang="en-US" sz="1400" dirty="0"/>
          </a:p>
        </p:txBody>
      </p:sp>
      <p:sp>
        <p:nvSpPr>
          <p:cNvPr id="23" name="Jev needs"/>
          <p:cNvSpPr txBox="1"/>
          <p:nvPr/>
        </p:nvSpPr>
        <p:spPr>
          <a:xfrm>
            <a:off x="62636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Needs: an API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Character features win for every method</a:t>
            </a:r>
            <a:endParaRPr lang="en-US" sz="3000" dirty="0"/>
          </a:p>
        </p:txBody>
      </p:sp>
      <p:graphicFrame>
        <p:nvGraphicFramePr>
          <p:cNvPr id="3" name="macro F1 chart" descr=""/>
          <p:cNvGraphicFramePr/>
          <p:nvPr/>
        </p:nvGraphicFramePr>
        <p:xfrm>
          <a:off x="36576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curacy stat"/>
          <p:cNvSpPr txBox="1"/>
          <p:nvPr/>
        </p:nvSpPr>
        <p:spPr>
          <a:xfrm>
            <a:off x="5852160" y="1188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5400" dirty="0"/>
          </a:p>
        </p:txBody>
      </p:sp>
      <p:sp>
        <p:nvSpPr>
          <p:cNvPr id="5" name="accuracy label"/>
          <p:cNvSpPr txBox="1"/>
          <p:nvPr/>
        </p:nvSpPr>
        <p:spPr>
          <a:xfrm>
            <a:off x="585216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 accuracy, Logistic Regression with characters</a:t>
            </a:r>
            <a:endParaRPr lang="en-US" sz="1400" dirty="0"/>
          </a:p>
        </p:txBody>
      </p:sp>
      <p:sp>
        <p:nvSpPr>
          <p:cNvPr id="6" name="why characters"/>
          <p:cNvSpPr txBox="1"/>
          <p:nvPr/>
        </p:nvSpPr>
        <p:spPr>
          <a:xfrm>
            <a:off x="5852160" y="2606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characters?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Turkish suffixes (konser, konsere, konserine) and typos (consert, standap) still share 3–5 letter groups.</a:t>
            </a:r>
            <a:endParaRPr lang="en-US" sz="1400" dirty="0"/>
          </a:p>
        </p:txBody>
      </p:sp>
      <p:sp>
        <p:nvSpPr>
          <p:cNvPr id="7" name="cv note"/>
          <p:cNvSpPr txBox="1"/>
          <p:nvPr/>
        </p:nvSpPr>
        <p:spPr>
          <a:xfrm>
            <a:off x="585216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5-fold grouped CV: 0.80 ± 0.08 macro F1, same ranking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Negation breaks the trained model</a:t>
            </a:r>
            <a:endParaRPr lang="en-US" sz="3000" dirty="0"/>
          </a:p>
        </p:txBody>
      </p:sp>
      <p:sp>
        <p:nvSpPr>
          <p:cNvPr id="3" name="quote card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quote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 not want a concert”</a:t>
            </a:r>
            <a:endParaRPr lang="en-US" sz="2800" dirty="0"/>
          </a:p>
        </p:txBody>
      </p:sp>
      <p:sp>
        <p:nvSpPr>
          <p:cNvPr id="5" name="Parser correct circle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Parser corre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2421788"/>
            <a:ext cx="231343" cy="231343"/>
          </a:xfrm>
          <a:prstGeom prst="rect">
            <a:avLst/>
          </a:prstGeom>
        </p:spPr>
      </p:pic>
      <p:sp>
        <p:nvSpPr>
          <p:cNvPr id="7" name="Parser verdict name"/>
          <p:cNvSpPr txBox="1"/>
          <p:nvPr/>
        </p:nvSpPr>
        <p:spPr>
          <a:xfrm>
            <a:off x="109728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Parser</a:t>
            </a:r>
            <a:endParaRPr lang="en-US" sz="1400" dirty="0"/>
          </a:p>
        </p:txBody>
      </p:sp>
      <p:sp>
        <p:nvSpPr>
          <p:cNvPr id="8" name="Parser verdict label"/>
          <p:cNvSpPr txBox="1"/>
          <p:nvPr/>
        </p:nvSpPr>
        <p:spPr>
          <a:xfrm>
            <a:off x="10972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unclear</a:t>
            </a:r>
            <a:endParaRPr lang="en-US" sz="2000" dirty="0"/>
          </a:p>
        </p:txBody>
      </p:sp>
      <p:sp>
        <p:nvSpPr>
          <p:cNvPr id="9" name="Logistic Regression wrong circle"/>
          <p:cNvSpPr/>
          <p:nvPr/>
        </p:nvSpPr>
        <p:spPr>
          <a:xfrm>
            <a:off x="3246120" y="22860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Logistic Regression wrong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908" y="2421788"/>
            <a:ext cx="231343" cy="231343"/>
          </a:xfrm>
          <a:prstGeom prst="rect">
            <a:avLst/>
          </a:prstGeom>
        </p:spPr>
      </p:pic>
      <p:sp>
        <p:nvSpPr>
          <p:cNvPr id="11" name="Logistic Regression verdict name"/>
          <p:cNvSpPr txBox="1"/>
          <p:nvPr/>
        </p:nvSpPr>
        <p:spPr>
          <a:xfrm>
            <a:off x="38862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12" name="Logistic Regression verdict label"/>
          <p:cNvSpPr txBox="1"/>
          <p:nvPr/>
        </p:nvSpPr>
        <p:spPr>
          <a:xfrm>
            <a:off x="388620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concert</a:t>
            </a:r>
            <a:endParaRPr lang="en-US" sz="2000" dirty="0"/>
          </a:p>
        </p:txBody>
      </p:sp>
      <p:sp>
        <p:nvSpPr>
          <p:cNvPr id="13" name="Jev shown live circle"/>
          <p:cNvSpPr/>
          <p:nvPr/>
        </p:nvSpPr>
        <p:spPr>
          <a:xfrm>
            <a:off x="6035040" y="22860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Jev shown liv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28" y="2421788"/>
            <a:ext cx="231343" cy="231343"/>
          </a:xfrm>
          <a:prstGeom prst="rect">
            <a:avLst/>
          </a:prstGeom>
        </p:spPr>
      </p:pic>
      <p:sp>
        <p:nvSpPr>
          <p:cNvPr id="15" name="Jev verdict name"/>
          <p:cNvSpPr txBox="1"/>
          <p:nvPr/>
        </p:nvSpPr>
        <p:spPr>
          <a:xfrm>
            <a:off x="66751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Jev</a:t>
            </a:r>
            <a:endParaRPr lang="en-US" sz="1400" dirty="0"/>
          </a:p>
        </p:txBody>
      </p:sp>
      <p:sp>
        <p:nvSpPr>
          <p:cNvPr id="16" name="Jev verdict label"/>
          <p:cNvSpPr txBox="1"/>
          <p:nvPr/>
        </p:nvSpPr>
        <p:spPr>
          <a:xfrm>
            <a:off x="667512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live demo</a:t>
            </a:r>
            <a:endParaRPr lang="en-US" sz="2000" dirty="0"/>
          </a:p>
        </p:txBody>
      </p:sp>
      <p:sp>
        <p:nvSpPr>
          <p:cNvPr id="17" name="negation stat"/>
          <p:cNvSpPr txBox="1"/>
          <p:nvPr/>
        </p:nvSpPr>
        <p:spPr>
          <a:xfrm>
            <a:off x="457200" y="3246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of 13</a:t>
            </a:r>
            <a:endParaRPr lang="en-US" sz="4400" dirty="0"/>
          </a:p>
        </p:txBody>
      </p:sp>
      <p:sp>
        <p:nvSpPr>
          <p:cNvPr id="18" name="negation text"/>
          <p:cNvSpPr txBox="1"/>
          <p:nvPr/>
        </p:nvSpPr>
        <p:spPr>
          <a:xfrm>
            <a:off x="45720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errors are negations. The word “concert” is present, and TF-IDF features ignore “not”.</a:t>
            </a:r>
            <a:endParaRPr lang="en-US" sz="1400" dirty="0"/>
          </a:p>
        </p:txBody>
      </p:sp>
      <p:sp>
        <p:nvSpPr>
          <p:cNvPr id="19" name="opposite failure"/>
          <p:cNvSpPr txBox="1"/>
          <p:nvPr/>
        </p:nvSpPr>
        <p:spPr>
          <a:xfrm>
            <a:off x="4846320" y="3291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opposite failure: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Parser says unclear for “an event where a rapper is on stage”. No keyword, no match. The model gets these paraphrases right.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Same 40 requests, three methods</a:t>
            </a:r>
            <a:endParaRPr lang="en-US" sz="3000" dirty="0"/>
          </a:p>
        </p:txBody>
      </p:sp>
      <p:sp>
        <p:nvSpPr>
          <p:cNvPr id="3" name="Parser score"/>
          <p:cNvSpPr txBox="1"/>
          <p:nvPr/>
        </p:nvSpPr>
        <p:spPr>
          <a:xfrm>
            <a:off x="45720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57.5%</a:t>
            </a:r>
            <a:endParaRPr lang="en-US" sz="4800" dirty="0"/>
          </a:p>
        </p:txBody>
      </p:sp>
      <p:sp>
        <p:nvSpPr>
          <p:cNvPr id="4" name="Parser dot"/>
          <p:cNvSpPr/>
          <p:nvPr/>
        </p:nvSpPr>
        <p:spPr>
          <a:xfrm>
            <a:off x="457200" y="210312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Parser label"/>
          <p:cNvSpPr txBox="1"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Parser</a:t>
            </a:r>
            <a:endParaRPr lang="en-US" sz="1600" dirty="0"/>
          </a:p>
        </p:txBody>
      </p:sp>
      <p:sp>
        <p:nvSpPr>
          <p:cNvPr id="6" name="Logistic Regression score"/>
          <p:cNvSpPr txBox="1"/>
          <p:nvPr/>
        </p:nvSpPr>
        <p:spPr>
          <a:xfrm>
            <a:off x="324612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</a:t>
            </a:r>
            <a:endParaRPr lang="en-US" sz="4800" dirty="0"/>
          </a:p>
        </p:txBody>
      </p:sp>
      <p:sp>
        <p:nvSpPr>
          <p:cNvPr id="7" name="Logistic Regression dot"/>
          <p:cNvSpPr/>
          <p:nvPr/>
        </p:nvSpPr>
        <p:spPr>
          <a:xfrm>
            <a:off x="3246120" y="2103120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Logistic Regression label"/>
          <p:cNvSpPr txBox="1"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9" name="Jev (to be run) score"/>
          <p:cNvSpPr txBox="1"/>
          <p:nvPr/>
        </p:nvSpPr>
        <p:spPr>
          <a:xfrm>
            <a:off x="6035040" y="1143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4800" dirty="0"/>
          </a:p>
        </p:txBody>
      </p:sp>
      <p:sp>
        <p:nvSpPr>
          <p:cNvPr id="10" name="Jev (to be run) dot"/>
          <p:cNvSpPr/>
          <p:nvPr/>
        </p:nvSpPr>
        <p:spPr>
          <a:xfrm>
            <a:off x="6035040" y="2103120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Jev (to be run) label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Jev (to be run)</a:t>
            </a:r>
            <a:endParaRPr lang="en-US" sz="1600" dirty="0"/>
          </a:p>
        </p:txBody>
      </p:sp>
      <p:sp>
        <p:nvSpPr>
          <p:cNvPr id="12" name="limits head"/>
          <p:cNvSpPr txBox="1"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Limits</a:t>
            </a:r>
            <a:endParaRPr lang="en-US" sz="1800" dirty="0"/>
          </a:p>
        </p:txBody>
      </p:sp>
      <p:sp>
        <p:nvSpPr>
          <p:cNvPr id="13" name="limits list"/>
          <p:cNvSpPr txBox="1"/>
          <p:nvPr/>
        </p:nvSpPr>
        <p:spPr>
          <a:xfrm>
            <a:off x="457200" y="31546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364 synthetic examples. The course asks for 1,000.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The 40 cases were inspected during development. Not a blind test.</a:t>
            </a:r>
            <a:endParaRPr lang="en-US" sz="1400" dirty="0"/>
          </a:p>
        </p:txBody>
      </p:sp>
      <p:sp>
        <p:nvSpPr>
          <p:cNvPr id="14" name="next head"/>
          <p:cNvSpPr txBox="1"/>
          <p:nvPr/>
        </p:nvSpPr>
        <p:spPr>
          <a:xfrm>
            <a:off x="48463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Next</a:t>
            </a:r>
            <a:endParaRPr lang="en-US" sz="1800" dirty="0"/>
          </a:p>
        </p:txBody>
      </p:sp>
      <p:sp>
        <p:nvSpPr>
          <p:cNvPr id="15" name="next list"/>
          <p:cNvSpPr txBox="1"/>
          <p:nvPr/>
        </p:nvSpPr>
        <p:spPr>
          <a:xfrm>
            <a:off x="4846320" y="3154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Grow to 1,000+ labeled requests.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Evaluate all three on an unseen, human-reviewed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ge Night">
  <a:themeElements>
    <a:clrScheme name="Stage Night">
      <a:dk1>
        <a:srgbClr val="1F1B2E"/>
      </a:dk1>
      <a:lt1>
        <a:srgbClr val="FFFFFF"/>
      </a:lt1>
      <a:dk2>
        <a:srgbClr val="2B2145"/>
      </a:dk2>
      <a:lt2>
        <a:srgbClr val="F3F1F7"/>
      </a:lt2>
      <a:accent1>
        <a:srgbClr val="F2A541"/>
      </a:accent1>
      <a:accent2>
        <a:srgbClr val="C8445A"/>
      </a:accent2>
      <a:accent3>
        <a:srgbClr val="2A9D8F"/>
      </a:accent3>
      <a:accent4>
        <a:srgbClr val="8A8698"/>
      </a:accent4>
      <a:accent5>
        <a:srgbClr val="6C4AB6"/>
      </a:accent5>
      <a:accent6>
        <a:srgbClr val="4B4560"/>
      </a:accent6>
      <a:hlink>
        <a:srgbClr val="6C4AB6"/>
      </a:hlink>
      <a:folHlink>
        <a:srgbClr val="4B4560"/>
      </a:folHlink>
    </a:clrScheme>
    <a:fontScheme name="Stage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Concert, theatre, or stand-up?</dc:title>
  <dc:subject>COE025 Project 1: Text Classification</dc:subject>
  <dc:creator>PptxGenJS</dc:creator>
  <cp:lastModifiedBy>PptxGenJS</cp:lastModifiedBy>
  <cp:revision>1</cp:revision>
  <dcterms:created xsi:type="dcterms:W3CDTF">2026-10-04T14:10:01Z</dcterms:created>
  <dcterms:modified xsi:type="dcterms:W3CDTF">2026-10-04T14:10:01Z</dcterms:modified>
</cp:coreProperties>
</file>